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62" r:id="rId2"/>
    <p:sldId id="279" r:id="rId3"/>
    <p:sldId id="258" r:id="rId4"/>
    <p:sldId id="259" r:id="rId5"/>
    <p:sldId id="260" r:id="rId6"/>
    <p:sldId id="280" r:id="rId7"/>
    <p:sldId id="28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2" r:id="rId16"/>
    <p:sldId id="283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09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BCE0C-CD74-4A59-802C-6D2F8C15331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8501B-77B5-4365-9881-C6E19A3C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56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FDEA8-CBB8-46CC-9562-028963DBC55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BD8E7-1312-41F3-99C4-6DA5AF891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8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48245"/>
            <a:ext cx="10515600" cy="224028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54659"/>
            <a:ext cx="10515600" cy="1143000"/>
          </a:xfrm>
        </p:spPr>
        <p:txBody>
          <a:bodyPr>
            <a:normAutofit/>
          </a:bodyPr>
          <a:lstStyle>
            <a:lvl1pPr marL="0" indent="0" algn="ctr"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084483"/>
            <a:ext cx="11125200" cy="914400"/>
          </a:xfrm>
        </p:spPr>
        <p:txBody>
          <a:bodyPr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0"/>
          </p:nvPr>
        </p:nvSpPr>
        <p:spPr>
          <a:xfrm>
            <a:off x="1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1"/>
          </p:nvPr>
        </p:nvSpPr>
        <p:spPr>
          <a:xfrm>
            <a:off x="4084320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2"/>
          </p:nvPr>
        </p:nvSpPr>
        <p:spPr>
          <a:xfrm>
            <a:off x="8168640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6043123"/>
            <a:ext cx="11125200" cy="5715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63745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483427"/>
            <a:ext cx="10515600" cy="2743200"/>
          </a:xfrm>
        </p:spPr>
        <p:txBody>
          <a:bodyPr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5025" y="5257800"/>
            <a:ext cx="105156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cap="all" spc="50" baseline="0">
                <a:solidFill>
                  <a:schemeClr val="bg1"/>
                </a:solidFill>
              </a:defRPr>
            </a:lvl1pPr>
            <a:lvl2pPr marL="365760" indent="0" algn="ctr">
              <a:buNone/>
              <a:defRPr sz="2000" cap="all" spc="50" baseline="0">
                <a:solidFill>
                  <a:schemeClr val="bg1"/>
                </a:solidFill>
              </a:defRPr>
            </a:lvl2pPr>
            <a:lvl3pPr algn="ctr">
              <a:defRPr sz="2000" cap="all" spc="50" baseline="0">
                <a:solidFill>
                  <a:schemeClr val="bg1"/>
                </a:solidFill>
              </a:defRPr>
            </a:lvl3pPr>
            <a:lvl4pPr algn="ctr">
              <a:defRPr sz="2000" cap="all" spc="50" baseline="0">
                <a:solidFill>
                  <a:schemeClr val="bg1"/>
                </a:solidFill>
              </a:defRPr>
            </a:lvl4pPr>
            <a:lvl5pPr algn="ctr">
              <a:defRPr sz="2000" cap="all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714500"/>
            <a:ext cx="4495800" cy="44622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14500"/>
            <a:ext cx="4495800" cy="44622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733162"/>
            <a:ext cx="4498848" cy="6858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481943"/>
            <a:ext cx="4498848" cy="36902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33162"/>
            <a:ext cx="4498848" cy="6858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81943"/>
            <a:ext cx="4498848" cy="36902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1812" y="1672934"/>
            <a:ext cx="3506788" cy="288036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457200"/>
            <a:ext cx="7242111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51812" y="4590288"/>
            <a:ext cx="3514564" cy="1581912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813" y="1683327"/>
            <a:ext cx="3125787" cy="287726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8101584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2813" y="4591761"/>
            <a:ext cx="3125787" cy="1580440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200"/>
            <a:ext cx="1943100" cy="5719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200"/>
            <a:ext cx="7048500" cy="5719762"/>
          </a:xfrm>
        </p:spPr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714500"/>
            <a:ext cx="914400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3999" y="6601556"/>
            <a:ext cx="6491381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87908" y="6601556"/>
            <a:ext cx="1534064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4499" y="6601556"/>
            <a:ext cx="7735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548" y="4583038"/>
            <a:ext cx="11125200" cy="9144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Rossmann Store Sales Forecasting Pipeline</a:t>
            </a:r>
          </a:p>
        </p:txBody>
      </p:sp>
      <p:pic>
        <p:nvPicPr>
          <p:cNvPr id="7" name="Picture Placeholder 6" descr="Two people lifting weights"/>
          <p:cNvPicPr>
            <a:picLocks noGrp="1" noChangeAspect="1"/>
          </p:cNvPicPr>
          <p:nvPr>
            <p:ph type="pic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8" name="Picture Placeholder 7" descr="Closeup of Granny Smith apple and tape measure"/>
          <p:cNvPicPr>
            <a:picLocks noGrp="1" noChangeAspect="1"/>
          </p:cNvPicPr>
          <p:nvPr>
            <p:ph type="pic" idx="1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 b="19"/>
          <a:stretch/>
        </p:blipFill>
        <p:spPr/>
      </p:pic>
      <p:pic>
        <p:nvPicPr>
          <p:cNvPr id="9" name="Picture Placeholder 8" descr="Man and woman running on indoor track"/>
          <p:cNvPicPr>
            <a:picLocks noGrp="1" noChangeAspect="1"/>
          </p:cNvPicPr>
          <p:nvPr>
            <p:ph type="pic" idx="12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" b="39"/>
          <a:stretch/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148" y="5404025"/>
            <a:ext cx="11658600" cy="1453973"/>
          </a:xfrm>
        </p:spPr>
        <p:txBody>
          <a:bodyPr>
            <a:noAutofit/>
          </a:bodyPr>
          <a:lstStyle/>
          <a:p>
            <a:pPr lvl="1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End-to-End Data Engineering, </a:t>
            </a:r>
          </a:p>
          <a:p>
            <a:pPr lvl="1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Analytics &amp; Machine Learning System</a:t>
            </a:r>
          </a:p>
          <a:p>
            <a:pPr lvl="1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Author: Aishwarya Kumar Singh</a:t>
            </a:r>
          </a:p>
          <a:p>
            <a:pPr lvl="1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 –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NextHikes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 Solutions</a:t>
            </a:r>
          </a:p>
        </p:txBody>
      </p:sp>
    </p:spTree>
    <p:extLst>
      <p:ext uri="{BB962C8B-B14F-4D97-AF65-F5344CB8AC3E}">
        <p14:creationId xmlns:p14="http://schemas.microsoft.com/office/powerpoint/2010/main" val="303468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 &amp; Goals</a:t>
            </a:r>
          </a:p>
          <a:p>
            <a:r>
              <a:t>Data Sources &amp; Architecture</a:t>
            </a:r>
          </a:p>
          <a:p>
            <a:r>
              <a:t>Data Engineering Pipeline</a:t>
            </a:r>
          </a:p>
          <a:p>
            <a:r>
              <a:t>EDA &amp; Feature Engineering</a:t>
            </a:r>
          </a:p>
          <a:p>
            <a:r>
              <a:t>Modeling &amp; Comparison</a:t>
            </a:r>
          </a:p>
          <a:p>
            <a:r>
              <a:t>Deployment &amp; Business Impact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stores require accurate daily sales forecasting</a:t>
            </a:r>
          </a:p>
          <a:p>
            <a:r>
              <a:t>Sales influenced by promotions, holidays, customers, and competition</a:t>
            </a:r>
          </a:p>
          <a:p>
            <a:r>
              <a:t>Goal: Predict daily sales for operational planning</a:t>
            </a:r>
          </a:p>
          <a:p>
            <a:r>
              <a:t>Supports inventory, staffing, and marketing decisions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Build a complete ML pipeline from raw data to deployment</a:t>
            </a:r>
          </a:p>
          <a:p>
            <a:r>
              <a:rPr dirty="0"/>
              <a:t>Integrate store metadata with transactional data</a:t>
            </a:r>
          </a:p>
          <a:p>
            <a:r>
              <a:rPr dirty="0"/>
              <a:t>Analyze customer and promotion behavior</a:t>
            </a:r>
          </a:p>
          <a:p>
            <a:r>
              <a:rPr dirty="0"/>
              <a:t>Deliver real-time sales prediction capability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train.csv – historical transactions</a:t>
            </a:r>
          </a:p>
          <a:p>
            <a:r>
              <a:t>test.csv – unseen prediction dataset</a:t>
            </a:r>
          </a:p>
          <a:p>
            <a:r>
              <a:t>store.csv – store metadata</a:t>
            </a:r>
          </a:p>
          <a:p>
            <a:r>
              <a:t>Over 1 million records across multiple stores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ingestion and validation</a:t>
            </a:r>
          </a:p>
          <a:p>
            <a:r>
              <a:t>Merge transactional and store data</a:t>
            </a:r>
          </a:p>
          <a:p>
            <a:r>
              <a:t>Data cleaning and preprocessing</a:t>
            </a:r>
          </a:p>
          <a:p>
            <a:r>
              <a:t>Feature engineering</a:t>
            </a:r>
          </a:p>
          <a:p>
            <a:r>
              <a:t>Machine learning modeling</a:t>
            </a:r>
          </a:p>
          <a:p>
            <a:r>
              <a:t>Deployment for prediction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 and inconsistent entries</a:t>
            </a:r>
          </a:p>
          <a:p>
            <a:r>
              <a:t>Removed invalid records (closed stores)</a:t>
            </a:r>
          </a:p>
          <a:p>
            <a:r>
              <a:t>Standardized schema and datatypes</a:t>
            </a:r>
          </a:p>
          <a:p>
            <a:r>
              <a:t>Prepared analysis-ready dataset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Extracted year, month, weekday from date</a:t>
            </a:r>
          </a:p>
          <a:p>
            <a:r>
              <a:t>Encoded categorical store attributes</a:t>
            </a:r>
          </a:p>
          <a:p>
            <a:r>
              <a:t>Prepared structured dataset for modeling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distribution analysis</a:t>
            </a:r>
          </a:p>
          <a:p>
            <a:r>
              <a:t>Promotion impact evaluation</a:t>
            </a:r>
          </a:p>
          <a:p>
            <a:r>
              <a:t>Holiday vs non-holiday performance</a:t>
            </a:r>
          </a:p>
          <a:p>
            <a:r>
              <a:t>Customer count correlation with sales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Detected outliers using IQR method</a:t>
            </a:r>
          </a:p>
          <a:p>
            <a:r>
              <a:t>Validated using boxplots and distributions</a:t>
            </a:r>
          </a:p>
          <a:p>
            <a:r>
              <a:t>Applied capping during preprocessing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LightGBM – primary model</a:t>
            </a:r>
          </a:p>
          <a:p>
            <a:r>
              <a:t>Time Series forecasting comparison</a:t>
            </a:r>
          </a:p>
          <a:p>
            <a:r>
              <a:t>LSTM deep learning model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Evaluated using RMSE and R² metrics</a:t>
            </a:r>
          </a:p>
          <a:p>
            <a:r>
              <a:t>LightGBM achieved best accuracy and speed</a:t>
            </a:r>
          </a:p>
          <a:p>
            <a:r>
              <a:t>Selected for production deployment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 + model combined into pipeline</a:t>
            </a:r>
          </a:p>
          <a:p>
            <a:r>
              <a:t>Serialized model for reuse</a:t>
            </a:r>
          </a:p>
          <a:p>
            <a:r>
              <a:t>Streamlit web application for UI</a:t>
            </a:r>
          </a:p>
          <a:p>
            <a:r>
              <a:t>Real-time prediction system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inventory planning</a:t>
            </a:r>
          </a:p>
          <a:p>
            <a:r>
              <a:t>Optimizes staffing</a:t>
            </a:r>
          </a:p>
          <a:p>
            <a:r>
              <a:t>Enhances promotion strategy</a:t>
            </a:r>
          </a:p>
          <a:p>
            <a:r>
              <a:t>Supports data-driven retail operations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Consistency between training and inference pipelines</a:t>
            </a:r>
          </a:p>
          <a:p>
            <a:r>
              <a:t>Importance of preprocessing and feature engineering</a:t>
            </a:r>
          </a:p>
          <a:p>
            <a:r>
              <a:t>Real-world ML deployment challenges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ML system successfully implemented</a:t>
            </a:r>
          </a:p>
          <a:p>
            <a:r>
              <a:t>From raw data to deployed prediction application</a:t>
            </a:r>
          </a:p>
          <a:p>
            <a:r>
              <a:t>Future scope: cloud deployment and dashboards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Aishwarya Kumar Singh</a:t>
            </a:r>
          </a:p>
          <a:p>
            <a:r>
              <a:t>aishsingh702@gmail.com</a:t>
            </a:r>
          </a:p>
          <a:p>
            <a:r>
              <a:t>github.com/aishks14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ealth Fitness 16x9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lth and fitness presentation (widescreen).potx" id="{ABFD658B-2256-413B-9244-0F977A0B2D12}" vid="{E4CB021D-C859-4C82-BDBB-2F2FACCF0D80}"/>
    </a:ext>
  </a:extLst>
</a:theme>
</file>

<file path=ppt/theme/theme2.xml><?xml version="1.0" encoding="utf-8"?>
<a:theme xmlns:a="http://schemas.openxmlformats.org/drawingml/2006/main" name="Office Them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Health and fitness presentation (widescreen)</Template>
  <TotalTime>11</TotalTime>
  <Words>359</Words>
  <Application>Microsoft Office PowerPoint</Application>
  <PresentationFormat>Widescreen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Health Fitness 16x9</vt:lpstr>
      <vt:lpstr>Rossmann Store Sales Forecasting Pipeline</vt:lpstr>
      <vt:lpstr>Agenda</vt:lpstr>
      <vt:lpstr>Business Context</vt:lpstr>
      <vt:lpstr>Project Objectives</vt:lpstr>
      <vt:lpstr>Data Sources</vt:lpstr>
      <vt:lpstr>Pipeline Architecture</vt:lpstr>
      <vt:lpstr>Data Cleaning &amp; Preprocessing</vt:lpstr>
      <vt:lpstr>Feature Engineering</vt:lpstr>
      <vt:lpstr>Exploratory Data Analysis</vt:lpstr>
      <vt:lpstr>Outlier Handling</vt:lpstr>
      <vt:lpstr>Machine Learning Models</vt:lpstr>
      <vt:lpstr>Model Comparison</vt:lpstr>
      <vt:lpstr>Deployment Architecture</vt:lpstr>
      <vt:lpstr>Business Impact</vt:lpstr>
      <vt:lpstr>Key Learnings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Kumar Singh</dc:creator>
  <cp:lastModifiedBy>Aishwarya Kumar Singh</cp:lastModifiedBy>
  <cp:revision>2</cp:revision>
  <dcterms:created xsi:type="dcterms:W3CDTF">2026-02-17T05:04:43Z</dcterms:created>
  <dcterms:modified xsi:type="dcterms:W3CDTF">2026-02-17T05:16:29Z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